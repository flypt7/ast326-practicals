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331f9ca5889b1f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h331f9ca5889b1f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331f9ca5889b1f9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h331f9ca5889b1f9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331f9ca5889b1f9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331f9ca5889b1f9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6ecde08ed533ed0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6ecde08ed533ed0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6ecde08ed533ed03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6ecde08ed533ed03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6ecde08ed533ed03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6ecde08ed533ed03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6ecde08ed533ed0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6ecde08ed533ed0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331f9ca5889b1f9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331f9ca5889b1f9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1eac23309ecf76cc_1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1eac23309ecf76cc_1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1eac23309ecf76cc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1eac23309ecf76cc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6ecde08ed533ed03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6ecde08ed533ed03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6ecde08ed533ed03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6ecde08ed533ed03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c42a052af221a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c42a052af221a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6ecde08ed533ed03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6ecde08ed533ed03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6ecde08ed533ed03_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6ecde08ed533ed03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AST326Y1 Group H</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fr"/>
              <a:t>Lab 1 - Basic Photon Statistics</a:t>
            </a:r>
            <a:endParaRPr/>
          </a:p>
          <a:p>
            <a:pPr indent="0" lvl="0" marL="0" rtl="0" algn="ctr">
              <a:spcBef>
                <a:spcPts val="0"/>
              </a:spcBef>
              <a:spcAft>
                <a:spcPts val="0"/>
              </a:spcAft>
              <a:buNone/>
            </a:pPr>
            <a:r>
              <a:rPr lang="fr"/>
              <a:t>Week 2 Mini-Report</a:t>
            </a:r>
            <a:endParaRPr/>
          </a:p>
        </p:txBody>
      </p:sp>
      <p:sp>
        <p:nvSpPr>
          <p:cNvPr id="56" name="Google Shape;56;p13"/>
          <p:cNvSpPr txBox="1"/>
          <p:nvPr/>
        </p:nvSpPr>
        <p:spPr>
          <a:xfrm>
            <a:off x="124383" y="4699350"/>
            <a:ext cx="511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a:solidFill>
                  <a:schemeClr val="dk2"/>
                </a:solidFill>
              </a:rPr>
              <a:t>By: Ömer, Luna, Cooper, Guillaume </a:t>
            </a:r>
            <a:endParaRPr sz="900">
              <a:solidFill>
                <a:schemeClr val="dk2"/>
              </a:solidFill>
            </a:endParaRPr>
          </a:p>
        </p:txBody>
      </p:sp>
      <p:sp>
        <p:nvSpPr>
          <p:cNvPr id="57" name="Google Shape;57;p13"/>
          <p:cNvSpPr txBox="1"/>
          <p:nvPr/>
        </p:nvSpPr>
        <p:spPr>
          <a:xfrm>
            <a:off x="3964183" y="4699350"/>
            <a:ext cx="51168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fr" sz="900">
                <a:solidFill>
                  <a:schemeClr val="dk2"/>
                </a:solidFill>
              </a:rPr>
              <a:t>All slides made by their respective presenters</a:t>
            </a:r>
            <a:endParaRPr sz="9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Plan</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4.1: Data distributions</a:t>
            </a:r>
            <a:endParaRPr/>
          </a:p>
          <a:p>
            <a:pPr indent="-342900" lvl="0" marL="457200" rtl="0" algn="l">
              <a:spcBef>
                <a:spcPts val="0"/>
              </a:spcBef>
              <a:spcAft>
                <a:spcPts val="0"/>
              </a:spcAft>
              <a:buSzPts val="1800"/>
              <a:buChar char="●"/>
            </a:pPr>
            <a:r>
              <a:rPr lang="fr"/>
              <a:t>4.2: Discovering the CMOS! (4.2.1-4.2.3)</a:t>
            </a:r>
            <a:endParaRPr/>
          </a:p>
          <a:p>
            <a:pPr indent="-342900" lvl="0" marL="457200" rtl="0" algn="l">
              <a:spcBef>
                <a:spcPts val="0"/>
              </a:spcBef>
              <a:spcAft>
                <a:spcPts val="0"/>
              </a:spcAft>
              <a:buSzPts val="1800"/>
              <a:buChar char="●"/>
            </a:pPr>
            <a:r>
              <a:rPr lang="fr"/>
              <a:t>4.2.4: Read Noise</a:t>
            </a:r>
            <a:endParaRPr/>
          </a:p>
          <a:p>
            <a:pPr indent="-317500" lvl="1" marL="914400" rtl="0" algn="l">
              <a:spcBef>
                <a:spcPts val="0"/>
              </a:spcBef>
              <a:spcAft>
                <a:spcPts val="0"/>
              </a:spcAft>
              <a:buSzPts val="1400"/>
              <a:buChar char="○"/>
            </a:pPr>
            <a:r>
              <a:rPr lang="fr"/>
              <a:t>Recording Data</a:t>
            </a:r>
            <a:endParaRPr/>
          </a:p>
          <a:p>
            <a:pPr indent="-317500" lvl="1" marL="914400" rtl="0" algn="l">
              <a:spcBef>
                <a:spcPts val="0"/>
              </a:spcBef>
              <a:spcAft>
                <a:spcPts val="0"/>
              </a:spcAft>
              <a:buSzPts val="1400"/>
              <a:buChar char="○"/>
            </a:pPr>
            <a:r>
              <a:rPr lang="fr"/>
              <a:t>Data Processing</a:t>
            </a:r>
            <a:endParaRPr/>
          </a:p>
          <a:p>
            <a:pPr indent="-342900" lvl="0" marL="457200" rtl="0" algn="l">
              <a:spcBef>
                <a:spcPts val="0"/>
              </a:spcBef>
              <a:spcAft>
                <a:spcPts val="0"/>
              </a:spcAft>
              <a:buSzPts val="1800"/>
              <a:buChar char="●"/>
            </a:pPr>
            <a:r>
              <a:rPr lang="fr"/>
              <a:t>The +</a:t>
            </a:r>
            <a:endParaRPr/>
          </a:p>
          <a:p>
            <a:pPr indent="-342900" lvl="0" marL="457200" rtl="0" algn="l">
              <a:spcBef>
                <a:spcPts val="0"/>
              </a:spcBef>
              <a:spcAft>
                <a:spcPts val="0"/>
              </a:spcAft>
              <a:buSzPts val="1800"/>
              <a:buChar char="●"/>
            </a:pPr>
            <a:r>
              <a:rPr lang="fr"/>
              <a:t>The -</a:t>
            </a:r>
            <a:endParaRPr/>
          </a:p>
          <a:p>
            <a:pPr indent="-342900" lvl="0" marL="457200" rtl="0" algn="l">
              <a:spcBef>
                <a:spcPts val="0"/>
              </a:spcBef>
              <a:spcAft>
                <a:spcPts val="0"/>
              </a:spcAft>
              <a:buSzPts val="1800"/>
              <a:buChar char="●"/>
            </a:pPr>
            <a:r>
              <a:rPr lang="fr"/>
              <a:t>Further Investigations for 4.2.5</a:t>
            </a:r>
            <a:endParaRPr/>
          </a:p>
          <a:p>
            <a:pPr indent="-342900" lvl="0" marL="457200" rtl="0" algn="l">
              <a:spcBef>
                <a:spcPts val="0"/>
              </a:spcBef>
              <a:spcAft>
                <a:spcPts val="0"/>
              </a:spcAft>
              <a:buSzPts val="1800"/>
              <a:buChar char="●"/>
            </a:pPr>
            <a:r>
              <a:rPr lang="fr"/>
              <a:t>What do we have to say for other groups?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4.1: Data Distributions</a:t>
            </a:r>
            <a:endParaRPr/>
          </a:p>
        </p:txBody>
      </p:sp>
      <p:sp>
        <p:nvSpPr>
          <p:cNvPr id="69" name="Google Shape;69;p15"/>
          <p:cNvSpPr txBox="1"/>
          <p:nvPr>
            <p:ph idx="1" type="body"/>
          </p:nvPr>
        </p:nvSpPr>
        <p:spPr>
          <a:xfrm>
            <a:off x="311700" y="1152475"/>
            <a:ext cx="3480900" cy="36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Recreating the Poisson distribution histogram (figure 7)</a:t>
            </a:r>
            <a:endParaRPr/>
          </a:p>
          <a:p>
            <a:pPr indent="-342900" lvl="0" marL="457200" rtl="0" algn="l">
              <a:spcBef>
                <a:spcPts val="1200"/>
              </a:spcBef>
              <a:spcAft>
                <a:spcPts val="0"/>
              </a:spcAft>
              <a:buSzPts val="1800"/>
              <a:buChar char="●"/>
            </a:pPr>
            <a:r>
              <a:rPr b="1" lang="fr"/>
              <a:t>Hardcoded </a:t>
            </a:r>
            <a:r>
              <a:rPr lang="fr"/>
              <a:t>data list</a:t>
            </a:r>
            <a:endParaRPr/>
          </a:p>
          <a:p>
            <a:pPr indent="-342900" lvl="0" marL="457200" rtl="0" algn="l">
              <a:spcBef>
                <a:spcPts val="0"/>
              </a:spcBef>
              <a:spcAft>
                <a:spcPts val="0"/>
              </a:spcAft>
              <a:buSzPts val="1800"/>
              <a:buChar char="●"/>
            </a:pPr>
            <a:r>
              <a:rPr lang="fr"/>
              <a:t>Poisson pmf </a:t>
            </a:r>
            <a:r>
              <a:rPr b="1" lang="fr"/>
              <a:t>amplified </a:t>
            </a:r>
            <a:r>
              <a:rPr lang="fr"/>
              <a:t>to be visible</a:t>
            </a:r>
            <a:endParaRPr/>
          </a:p>
          <a:p>
            <a:pPr indent="-342900" lvl="0" marL="457200" rtl="0" algn="l">
              <a:spcBef>
                <a:spcPts val="0"/>
              </a:spcBef>
              <a:spcAft>
                <a:spcPts val="0"/>
              </a:spcAft>
              <a:buSzPts val="1800"/>
              <a:buChar char="●"/>
            </a:pPr>
            <a:r>
              <a:rPr lang="fr"/>
              <a:t>Using </a:t>
            </a:r>
            <a:r>
              <a:rPr b="1" lang="fr"/>
              <a:t>pyplot.Axes </a:t>
            </a:r>
            <a:r>
              <a:rPr lang="fr"/>
              <a:t>for greater range of plot modifications (ticks etc.)</a:t>
            </a:r>
            <a:endParaRPr/>
          </a:p>
        </p:txBody>
      </p:sp>
      <p:pic>
        <p:nvPicPr>
          <p:cNvPr id="70" name="Google Shape;70;p15"/>
          <p:cNvPicPr preferRelativeResize="0"/>
          <p:nvPr/>
        </p:nvPicPr>
        <p:blipFill>
          <a:blip r:embed="rId3">
            <a:alphaModFix/>
          </a:blip>
          <a:stretch>
            <a:fillRect/>
          </a:stretch>
        </p:blipFill>
        <p:spPr>
          <a:xfrm>
            <a:off x="4077475" y="83200"/>
            <a:ext cx="4968401" cy="5060301"/>
          </a:xfrm>
          <a:prstGeom prst="rect">
            <a:avLst/>
          </a:prstGeom>
          <a:noFill/>
          <a:ln>
            <a:noFill/>
          </a:ln>
        </p:spPr>
      </p:pic>
      <p:pic>
        <p:nvPicPr>
          <p:cNvPr id="71" name="Google Shape;71;p15"/>
          <p:cNvPicPr preferRelativeResize="0"/>
          <p:nvPr/>
        </p:nvPicPr>
        <p:blipFill rotWithShape="1">
          <a:blip r:embed="rId4">
            <a:alphaModFix/>
          </a:blip>
          <a:srcRect b="0" l="0" r="0" t="27283"/>
          <a:stretch/>
        </p:blipFill>
        <p:spPr>
          <a:xfrm>
            <a:off x="311700" y="4105675"/>
            <a:ext cx="4033749" cy="737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4.1: Data Distributions</a:t>
            </a:r>
            <a:endParaRPr/>
          </a:p>
        </p:txBody>
      </p:sp>
      <p:sp>
        <p:nvSpPr>
          <p:cNvPr id="77" name="Google Shape;77;p16"/>
          <p:cNvSpPr txBox="1"/>
          <p:nvPr>
            <p:ph idx="1" type="body"/>
          </p:nvPr>
        </p:nvSpPr>
        <p:spPr>
          <a:xfrm>
            <a:off x="311700" y="1152475"/>
            <a:ext cx="3948300" cy="36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Small.txt, Large.txt</a:t>
            </a:r>
            <a:endParaRPr/>
          </a:p>
          <a:p>
            <a:pPr indent="-342900" lvl="0" marL="457200" rtl="0" algn="l">
              <a:spcBef>
                <a:spcPts val="1200"/>
              </a:spcBef>
              <a:spcAft>
                <a:spcPts val="0"/>
              </a:spcAft>
              <a:buSzPts val="1800"/>
              <a:buChar char="●"/>
            </a:pPr>
            <a:r>
              <a:rPr lang="fr"/>
              <a:t>Reading from files using </a:t>
            </a:r>
            <a:r>
              <a:rPr b="1" lang="fr"/>
              <a:t>np.readtxt()</a:t>
            </a:r>
            <a:r>
              <a:rPr lang="fr"/>
              <a:t>, σ and μ computed with NumPy methods</a:t>
            </a:r>
            <a:endParaRPr/>
          </a:p>
          <a:p>
            <a:pPr indent="-342900" lvl="0" marL="457200" rtl="0" algn="l">
              <a:spcBef>
                <a:spcPts val="0"/>
              </a:spcBef>
              <a:spcAft>
                <a:spcPts val="0"/>
              </a:spcAft>
              <a:buSzPts val="1800"/>
              <a:buChar char="●"/>
            </a:pPr>
            <a:r>
              <a:rPr b="1" lang="fr"/>
              <a:t>Issue:</a:t>
            </a:r>
            <a:r>
              <a:rPr lang="fr"/>
              <a:t> factorial overflows in Poisson pmf → loop division</a:t>
            </a:r>
            <a:endParaRPr/>
          </a:p>
        </p:txBody>
      </p:sp>
      <p:pic>
        <p:nvPicPr>
          <p:cNvPr id="78" name="Google Shape;78;p16"/>
          <p:cNvPicPr preferRelativeResize="0"/>
          <p:nvPr/>
        </p:nvPicPr>
        <p:blipFill>
          <a:blip r:embed="rId3">
            <a:alphaModFix/>
          </a:blip>
          <a:stretch>
            <a:fillRect/>
          </a:stretch>
        </p:blipFill>
        <p:spPr>
          <a:xfrm>
            <a:off x="4682350" y="2314238"/>
            <a:ext cx="3948300" cy="370132"/>
          </a:xfrm>
          <a:prstGeom prst="rect">
            <a:avLst/>
          </a:prstGeom>
          <a:noFill/>
          <a:ln cap="flat" cmpd="sng" w="9525">
            <a:solidFill>
              <a:schemeClr val="dk2"/>
            </a:solidFill>
            <a:prstDash val="solid"/>
            <a:round/>
            <a:headEnd len="sm" w="sm" type="none"/>
            <a:tailEnd len="sm" w="sm" type="none"/>
          </a:ln>
        </p:spPr>
      </p:pic>
      <p:pic>
        <p:nvPicPr>
          <p:cNvPr id="79" name="Google Shape;79;p16"/>
          <p:cNvPicPr preferRelativeResize="0"/>
          <p:nvPr/>
        </p:nvPicPr>
        <p:blipFill>
          <a:blip r:embed="rId4">
            <a:alphaModFix/>
          </a:blip>
          <a:stretch>
            <a:fillRect/>
          </a:stretch>
        </p:blipFill>
        <p:spPr>
          <a:xfrm>
            <a:off x="4168425" y="37175"/>
            <a:ext cx="3189199" cy="2217225"/>
          </a:xfrm>
          <a:prstGeom prst="rect">
            <a:avLst/>
          </a:prstGeom>
          <a:noFill/>
          <a:ln>
            <a:noFill/>
          </a:ln>
        </p:spPr>
      </p:pic>
      <p:pic>
        <p:nvPicPr>
          <p:cNvPr id="80" name="Google Shape;80;p16"/>
          <p:cNvPicPr preferRelativeResize="0"/>
          <p:nvPr/>
        </p:nvPicPr>
        <p:blipFill>
          <a:blip r:embed="rId5">
            <a:alphaModFix/>
          </a:blip>
          <a:stretch>
            <a:fillRect/>
          </a:stretch>
        </p:blipFill>
        <p:spPr>
          <a:xfrm>
            <a:off x="5967650" y="2744225"/>
            <a:ext cx="3127024" cy="2354676"/>
          </a:xfrm>
          <a:prstGeom prst="rect">
            <a:avLst/>
          </a:prstGeom>
          <a:noFill/>
          <a:ln>
            <a:noFill/>
          </a:ln>
        </p:spPr>
      </p:pic>
      <p:pic>
        <p:nvPicPr>
          <p:cNvPr id="81" name="Google Shape;81;p16"/>
          <p:cNvPicPr preferRelativeResize="0"/>
          <p:nvPr/>
        </p:nvPicPr>
        <p:blipFill>
          <a:blip r:embed="rId6">
            <a:alphaModFix/>
          </a:blip>
          <a:stretch>
            <a:fillRect/>
          </a:stretch>
        </p:blipFill>
        <p:spPr>
          <a:xfrm>
            <a:off x="311700" y="3416428"/>
            <a:ext cx="3995050" cy="1538722"/>
          </a:xfrm>
          <a:prstGeom prst="rect">
            <a:avLst/>
          </a:prstGeom>
          <a:noFill/>
          <a:ln>
            <a:noFill/>
          </a:ln>
        </p:spPr>
      </p:pic>
      <p:sp>
        <p:nvSpPr>
          <p:cNvPr id="82" name="Google Shape;82;p16"/>
          <p:cNvSpPr txBox="1"/>
          <p:nvPr>
            <p:ph idx="1" type="body"/>
          </p:nvPr>
        </p:nvSpPr>
        <p:spPr>
          <a:xfrm>
            <a:off x="7160100" y="555336"/>
            <a:ext cx="1672200" cy="1198200"/>
          </a:xfrm>
          <a:prstGeom prst="rect">
            <a:avLst/>
          </a:prstGeom>
        </p:spPr>
        <p:txBody>
          <a:bodyPr anchorCtr="0" anchor="t" bIns="91425" lIns="91425" spcFirstLastPara="1" rIns="91425" wrap="square" tIns="91425">
            <a:normAutofit fontScale="25000"/>
          </a:bodyPr>
          <a:lstStyle/>
          <a:p>
            <a:pPr indent="0" lvl="0" marL="0" rtl="0" algn="l">
              <a:lnSpc>
                <a:spcPct val="105000"/>
              </a:lnSpc>
              <a:spcBef>
                <a:spcPts val="0"/>
              </a:spcBef>
              <a:spcAft>
                <a:spcPts val="0"/>
              </a:spcAft>
              <a:buSzPts val="234"/>
              <a:buNone/>
            </a:pPr>
            <a:r>
              <a:rPr lang="fr" sz="4965"/>
              <a:t>small.txt photon count rates</a:t>
            </a:r>
            <a:endParaRPr sz="4965"/>
          </a:p>
          <a:p>
            <a:pPr indent="0" lvl="0" marL="0" rtl="0" algn="l">
              <a:spcBef>
                <a:spcPts val="1200"/>
              </a:spcBef>
              <a:spcAft>
                <a:spcPts val="1200"/>
              </a:spcAft>
              <a:buNone/>
            </a:pPr>
            <a:r>
              <a:rPr b="1" lang="fr" sz="4965"/>
              <a:t>Small </a:t>
            </a:r>
            <a:r>
              <a:rPr lang="fr" sz="4965"/>
              <a:t>~ Poisson </a:t>
            </a:r>
            <a:br>
              <a:rPr lang="fr" sz="4965"/>
            </a:br>
            <a:r>
              <a:rPr lang="fr" sz="4965"/>
              <a:t>(μ ≈ σ</a:t>
            </a:r>
            <a:r>
              <a:rPr baseline="30000" lang="fr" sz="4965"/>
              <a:t>2</a:t>
            </a:r>
            <a:r>
              <a:rPr lang="fr" sz="4965"/>
              <a:t>)</a:t>
            </a:r>
            <a:endParaRPr sz="1230"/>
          </a:p>
        </p:txBody>
      </p:sp>
      <p:sp>
        <p:nvSpPr>
          <p:cNvPr id="83" name="Google Shape;83;p16"/>
          <p:cNvSpPr txBox="1"/>
          <p:nvPr>
            <p:ph idx="1" type="body"/>
          </p:nvPr>
        </p:nvSpPr>
        <p:spPr>
          <a:xfrm>
            <a:off x="4482463" y="3261713"/>
            <a:ext cx="1556100" cy="1319700"/>
          </a:xfrm>
          <a:prstGeom prst="rect">
            <a:avLst/>
          </a:prstGeom>
        </p:spPr>
        <p:txBody>
          <a:bodyPr anchorCtr="0" anchor="t" bIns="91425" lIns="91425" spcFirstLastPara="1" rIns="91425" wrap="square" tIns="91425">
            <a:noAutofit/>
          </a:bodyPr>
          <a:lstStyle/>
          <a:p>
            <a:pPr indent="0" lvl="0" marL="0" rtl="0" algn="r">
              <a:lnSpc>
                <a:spcPct val="105000"/>
              </a:lnSpc>
              <a:spcBef>
                <a:spcPts val="0"/>
              </a:spcBef>
              <a:spcAft>
                <a:spcPts val="0"/>
              </a:spcAft>
              <a:buSzPts val="935"/>
              <a:buNone/>
            </a:pPr>
            <a:r>
              <a:rPr lang="fr" sz="1200"/>
              <a:t>large</a:t>
            </a:r>
            <a:r>
              <a:rPr lang="fr" sz="1200"/>
              <a:t>.txt photon count rates</a:t>
            </a:r>
            <a:endParaRPr sz="1200"/>
          </a:p>
          <a:p>
            <a:pPr indent="0" lvl="0" marL="0" rtl="0" algn="r">
              <a:spcBef>
                <a:spcPts val="1200"/>
              </a:spcBef>
              <a:spcAft>
                <a:spcPts val="1200"/>
              </a:spcAft>
              <a:buNone/>
            </a:pPr>
            <a:r>
              <a:rPr b="1" lang="fr" sz="1200"/>
              <a:t>Large </a:t>
            </a:r>
            <a:r>
              <a:rPr lang="fr" sz="1200"/>
              <a:t>~ Normal(?)</a:t>
            </a:r>
            <a:br>
              <a:rPr lang="fr" sz="1200"/>
            </a:br>
            <a:r>
              <a:rPr b="1" lang="fr" sz="1000"/>
              <a:t>Poisson → Normal</a:t>
            </a:r>
            <a:br>
              <a:rPr b="1" lang="fr" sz="1000"/>
            </a:br>
            <a:r>
              <a:rPr b="1" lang="fr" sz="1000"/>
              <a:t>with μ →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400"/>
              <a:t>We had the monochrome CMOS FMVU-03MTM</a:t>
            </a:r>
            <a:endParaRPr sz="1400"/>
          </a:p>
          <a:p>
            <a:pPr indent="-317500" lvl="0" marL="457200" rtl="0" algn="l">
              <a:spcBef>
                <a:spcPts val="1200"/>
              </a:spcBef>
              <a:spcAft>
                <a:spcPts val="0"/>
              </a:spcAft>
              <a:buSzPts val="1400"/>
              <a:buChar char="●"/>
            </a:pPr>
            <a:r>
              <a:rPr lang="fr" sz="1400"/>
              <a:t>First practical</a:t>
            </a:r>
            <a:endParaRPr sz="1400"/>
          </a:p>
          <a:p>
            <a:pPr indent="-317500" lvl="1" marL="914400" rtl="0" algn="l">
              <a:spcBef>
                <a:spcPts val="0"/>
              </a:spcBef>
              <a:spcAft>
                <a:spcPts val="0"/>
              </a:spcAft>
              <a:buSzPts val="1400"/>
              <a:buChar char="○"/>
            </a:pPr>
            <a:r>
              <a:rPr lang="fr" sz="1400"/>
              <a:t>No stand</a:t>
            </a:r>
            <a:endParaRPr sz="1400"/>
          </a:p>
          <a:p>
            <a:pPr indent="-317500" lvl="1" marL="914400" rtl="0" algn="l">
              <a:spcBef>
                <a:spcPts val="0"/>
              </a:spcBef>
              <a:spcAft>
                <a:spcPts val="0"/>
              </a:spcAft>
              <a:buSzPts val="1400"/>
              <a:buChar char="○"/>
            </a:pPr>
            <a:r>
              <a:rPr lang="fr" sz="1400"/>
              <a:t>Problem with the focus</a:t>
            </a:r>
            <a:endParaRPr sz="1400"/>
          </a:p>
          <a:p>
            <a:pPr indent="-317500" lvl="1" marL="914400" rtl="0" algn="l">
              <a:spcBef>
                <a:spcPts val="0"/>
              </a:spcBef>
              <a:spcAft>
                <a:spcPts val="0"/>
              </a:spcAft>
              <a:buSzPts val="1400"/>
              <a:buChar char="○"/>
            </a:pPr>
            <a:r>
              <a:rPr lang="fr" sz="1400"/>
              <a:t>No photos taken</a:t>
            </a:r>
            <a:endParaRPr sz="1400"/>
          </a:p>
          <a:p>
            <a:pPr indent="-317500" lvl="0" marL="457200" rtl="0" algn="l">
              <a:spcBef>
                <a:spcPts val="0"/>
              </a:spcBef>
              <a:spcAft>
                <a:spcPts val="0"/>
              </a:spcAft>
              <a:buSzPts val="1400"/>
              <a:buChar char="●"/>
            </a:pPr>
            <a:r>
              <a:rPr lang="fr" sz="1400"/>
              <a:t>Second practical</a:t>
            </a:r>
            <a:endParaRPr sz="1400"/>
          </a:p>
          <a:p>
            <a:pPr indent="-317500" lvl="1" marL="914400" rtl="0" algn="l">
              <a:spcBef>
                <a:spcPts val="0"/>
              </a:spcBef>
              <a:spcAft>
                <a:spcPts val="0"/>
              </a:spcAft>
              <a:buSzPts val="1400"/>
              <a:buChar char="○"/>
            </a:pPr>
            <a:r>
              <a:rPr lang="fr" sz="1400"/>
              <a:t>We had a stand</a:t>
            </a:r>
            <a:endParaRPr sz="1400"/>
          </a:p>
          <a:p>
            <a:pPr indent="-317500" lvl="1" marL="914400" rtl="0" algn="l">
              <a:spcBef>
                <a:spcPts val="0"/>
              </a:spcBef>
              <a:spcAft>
                <a:spcPts val="0"/>
              </a:spcAft>
              <a:buSzPts val="1400"/>
              <a:buChar char="○"/>
            </a:pPr>
            <a:r>
              <a:rPr lang="fr" sz="1400"/>
              <a:t>Clear focused image</a:t>
            </a:r>
            <a:endParaRPr sz="1400"/>
          </a:p>
          <a:p>
            <a:pPr indent="-317500" lvl="1" marL="914400" rtl="0" algn="l">
              <a:spcBef>
                <a:spcPts val="0"/>
              </a:spcBef>
              <a:spcAft>
                <a:spcPts val="0"/>
              </a:spcAft>
              <a:buSzPts val="1400"/>
              <a:buChar char="○"/>
            </a:pPr>
            <a:r>
              <a:rPr lang="fr" sz="1400"/>
              <a:t>Photos taken</a:t>
            </a:r>
            <a:endParaRPr sz="1400"/>
          </a:p>
        </p:txBody>
      </p:sp>
      <p:sp>
        <p:nvSpPr>
          <p:cNvPr id="89" name="Google Shape;89;p17"/>
          <p:cNvSpPr txBox="1"/>
          <p:nvPr>
            <p:ph type="title"/>
          </p:nvPr>
        </p:nvSpPr>
        <p:spPr>
          <a:xfrm>
            <a:off x="311700" y="555600"/>
            <a:ext cx="48645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sz="2500"/>
              <a:t>4.2: Discovering the CMOS! (4.2.1-4.2.3)</a:t>
            </a:r>
            <a:endParaRPr sz="2500"/>
          </a:p>
        </p:txBody>
      </p:sp>
      <p:sp>
        <p:nvSpPr>
          <p:cNvPr id="90" name="Google Shape;90;p17"/>
          <p:cNvSpPr txBox="1"/>
          <p:nvPr/>
        </p:nvSpPr>
        <p:spPr>
          <a:xfrm>
            <a:off x="4402100" y="1309050"/>
            <a:ext cx="4430100" cy="32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1800">
                <a:solidFill>
                  <a:schemeClr val="dk2"/>
                </a:solidFill>
              </a:rPr>
              <a:t>4.2.1</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fr" sz="1800">
                <a:solidFill>
                  <a:schemeClr val="dk2"/>
                </a:solidFill>
              </a:rPr>
              <a:t>lowest shutter - mean 53.9 (sd 7.7), one peak</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fr" sz="1800">
                <a:solidFill>
                  <a:schemeClr val="dk2"/>
                </a:solidFill>
              </a:rPr>
              <a:t>increase shutter = brighter values, more spread out, multiple peaks.</a:t>
            </a:r>
            <a:endParaRPr sz="1800">
              <a:solidFill>
                <a:schemeClr val="dk2"/>
              </a:solidFill>
            </a:endParaRPr>
          </a:p>
          <a:p>
            <a:pPr indent="-342900" lvl="1" marL="914400" rtl="0" algn="l">
              <a:lnSpc>
                <a:spcPct val="115000"/>
              </a:lnSpc>
              <a:spcBef>
                <a:spcPts val="0"/>
              </a:spcBef>
              <a:spcAft>
                <a:spcPts val="0"/>
              </a:spcAft>
              <a:buClr>
                <a:schemeClr val="dk2"/>
              </a:buClr>
              <a:buSzPts val="1800"/>
              <a:buChar char="○"/>
            </a:pPr>
            <a:r>
              <a:rPr lang="fr" sz="1800">
                <a:solidFill>
                  <a:schemeClr val="dk2"/>
                </a:solidFill>
              </a:rPr>
              <a:t>Some pixels get saturated at high (0.02s) shutter speed pointed at blend of desk and chair</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fr" sz="1800">
                <a:solidFill>
                  <a:schemeClr val="dk2"/>
                </a:solidFill>
              </a:rPr>
              <a:t>max value for an 8-bit camera = 255</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68000"/>
            <a:ext cx="5469000" cy="110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sz="2500"/>
              <a:t>4.2: Discovering the CMOS! (4.2.1-4.2.3)</a:t>
            </a:r>
            <a:endParaRPr sz="2500"/>
          </a:p>
        </p:txBody>
      </p:sp>
      <p:sp>
        <p:nvSpPr>
          <p:cNvPr id="96" name="Google Shape;96;p18"/>
          <p:cNvSpPr txBox="1"/>
          <p:nvPr>
            <p:ph idx="1" type="body"/>
          </p:nvPr>
        </p:nvSpPr>
        <p:spPr>
          <a:xfrm>
            <a:off x="311700" y="1610225"/>
            <a:ext cx="5469000" cy="334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4.2.2 - In the Dark!</a:t>
            </a:r>
            <a:endParaRPr/>
          </a:p>
          <a:p>
            <a:pPr indent="0" lvl="0" marL="0" rtl="0" algn="l">
              <a:spcBef>
                <a:spcPts val="1200"/>
              </a:spcBef>
              <a:spcAft>
                <a:spcPts val="0"/>
              </a:spcAft>
              <a:buNone/>
            </a:pPr>
            <a:r>
              <a:rPr lang="fr" sz="1600"/>
              <a:t>Lowest Frame rate -&gt; Longest exposure</a:t>
            </a:r>
            <a:endParaRPr sz="1600"/>
          </a:p>
          <a:p>
            <a:pPr indent="-317500" lvl="1" marL="914400" rtl="0" algn="l">
              <a:spcBef>
                <a:spcPts val="0"/>
              </a:spcBef>
              <a:spcAft>
                <a:spcPts val="0"/>
              </a:spcAft>
              <a:buSzPts val="1400"/>
              <a:buChar char="○"/>
            </a:pPr>
            <a:r>
              <a:rPr lang="fr"/>
              <a:t>min frame 6.90518 - couple brighter bins but still really low - max shutter 0.27</a:t>
            </a:r>
            <a:endParaRPr sz="1000"/>
          </a:p>
          <a:p>
            <a:pPr indent="-317500" lvl="1" marL="914400" rtl="0" algn="l">
              <a:spcBef>
                <a:spcPts val="0"/>
              </a:spcBef>
              <a:spcAft>
                <a:spcPts val="0"/>
              </a:spcAft>
              <a:buSzPts val="1400"/>
              <a:buChar char="○"/>
            </a:pPr>
            <a:r>
              <a:rPr lang="fr"/>
              <a:t>A couple of individually bright pixels</a:t>
            </a:r>
            <a:endParaRPr/>
          </a:p>
          <a:p>
            <a:pPr indent="-323850" lvl="0" marL="457200" rtl="0" algn="l">
              <a:spcBef>
                <a:spcPts val="0"/>
              </a:spcBef>
              <a:spcAft>
                <a:spcPts val="0"/>
              </a:spcAft>
              <a:buSzPts val="1500"/>
              <a:buChar char="●"/>
            </a:pPr>
            <a:r>
              <a:rPr lang="fr" sz="1500"/>
              <a:t>Dark and uniform but not static!</a:t>
            </a:r>
            <a:endParaRPr sz="1500"/>
          </a:p>
          <a:p>
            <a:pPr indent="-317500" lvl="1" marL="914400" rtl="0" algn="l">
              <a:spcBef>
                <a:spcPts val="0"/>
              </a:spcBef>
              <a:spcAft>
                <a:spcPts val="0"/>
              </a:spcAft>
              <a:buSzPts val="1400"/>
              <a:buChar char="○"/>
            </a:pPr>
            <a:r>
              <a:rPr lang="fr"/>
              <a:t>Exposure time increase </a:t>
            </a:r>
            <a:endParaRPr/>
          </a:p>
          <a:p>
            <a:pPr indent="-317500" lvl="1" marL="914400" rtl="0" algn="l">
              <a:spcBef>
                <a:spcPts val="0"/>
              </a:spcBef>
              <a:spcAft>
                <a:spcPts val="0"/>
              </a:spcAft>
              <a:buSzPts val="1400"/>
              <a:buChar char="○"/>
            </a:pPr>
            <a:r>
              <a:rPr lang="fr"/>
              <a:t>increasing rate makes it darker</a:t>
            </a:r>
            <a:endParaRPr/>
          </a:p>
          <a:p>
            <a:pPr indent="-317500" lvl="1" marL="914400" rtl="0" algn="l">
              <a:spcBef>
                <a:spcPts val="0"/>
              </a:spcBef>
              <a:spcAft>
                <a:spcPts val="0"/>
              </a:spcAft>
              <a:buSzPts val="1400"/>
              <a:buChar char="○"/>
            </a:pPr>
            <a:r>
              <a:rPr lang="fr"/>
              <a:t>the individually dark pixels darkened/disappeared</a:t>
            </a:r>
            <a:endParaRPr/>
          </a:p>
          <a:p>
            <a:pPr indent="-317500" lvl="1" marL="914400" rtl="0" algn="l">
              <a:spcBef>
                <a:spcPts val="0"/>
              </a:spcBef>
              <a:spcAft>
                <a:spcPts val="0"/>
              </a:spcAft>
              <a:buSzPts val="1400"/>
              <a:buChar char="○"/>
            </a:pPr>
            <a:r>
              <a:rPr lang="fr"/>
              <a:t>max 45.632 - max shutter 0.02</a:t>
            </a:r>
            <a:endParaRPr/>
          </a:p>
          <a:p>
            <a:pPr indent="0" lvl="0" marL="914400" rtl="0" algn="l">
              <a:spcBef>
                <a:spcPts val="0"/>
              </a:spcBef>
              <a:spcAft>
                <a:spcPts val="1200"/>
              </a:spcAft>
              <a:buNone/>
            </a:pPr>
            <a:r>
              <a:t/>
            </a:r>
            <a:endParaRPr sz="1400"/>
          </a:p>
        </p:txBody>
      </p:sp>
      <p:pic>
        <p:nvPicPr>
          <p:cNvPr id="97" name="Google Shape;97;p18"/>
          <p:cNvPicPr preferRelativeResize="0"/>
          <p:nvPr/>
        </p:nvPicPr>
        <p:blipFill rotWithShape="1">
          <a:blip r:embed="rId3">
            <a:alphaModFix/>
          </a:blip>
          <a:srcRect b="0" l="-10" r="0" t="0"/>
          <a:stretch/>
        </p:blipFill>
        <p:spPr>
          <a:xfrm>
            <a:off x="5780700" y="303175"/>
            <a:ext cx="3083526" cy="2268576"/>
          </a:xfrm>
          <a:prstGeom prst="rect">
            <a:avLst/>
          </a:prstGeom>
          <a:noFill/>
          <a:ln>
            <a:noFill/>
          </a:ln>
        </p:spPr>
      </p:pic>
      <p:pic>
        <p:nvPicPr>
          <p:cNvPr id="98" name="Google Shape;98;p18"/>
          <p:cNvPicPr preferRelativeResize="0"/>
          <p:nvPr/>
        </p:nvPicPr>
        <p:blipFill>
          <a:blip r:embed="rId4">
            <a:alphaModFix/>
          </a:blip>
          <a:stretch>
            <a:fillRect/>
          </a:stretch>
        </p:blipFill>
        <p:spPr>
          <a:xfrm>
            <a:off x="5780700" y="2685221"/>
            <a:ext cx="3083526" cy="22685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4.2.3 - Uniform vs Non-uniform </a:t>
            </a:r>
            <a:endParaRPr/>
          </a:p>
        </p:txBody>
      </p:sp>
      <p:sp>
        <p:nvSpPr>
          <p:cNvPr id="104" name="Google Shape;10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fr"/>
              <a:t>Used the back of a chair</a:t>
            </a:r>
            <a:endParaRPr/>
          </a:p>
          <a:p>
            <a:pPr indent="0" lvl="0" marL="0" rtl="0" algn="l">
              <a:lnSpc>
                <a:spcPct val="100000"/>
              </a:lnSpc>
              <a:spcBef>
                <a:spcPts val="0"/>
              </a:spcBef>
              <a:spcAft>
                <a:spcPts val="0"/>
              </a:spcAft>
              <a:buNone/>
            </a:pPr>
            <a:r>
              <a:rPr lang="fr"/>
              <a:t>	</a:t>
            </a:r>
            <a:r>
              <a:rPr lang="fr" sz="1400"/>
              <a:t>Set max gain, aperture F/1.4, mean ADU set 180-220</a:t>
            </a:r>
            <a:endParaRPr sz="1400"/>
          </a:p>
          <a:p>
            <a:pPr indent="-342900" lvl="1" marL="914400" rtl="0" algn="l">
              <a:lnSpc>
                <a:spcPct val="100000"/>
              </a:lnSpc>
              <a:spcBef>
                <a:spcPts val="0"/>
              </a:spcBef>
              <a:spcAft>
                <a:spcPts val="0"/>
              </a:spcAft>
              <a:buClr>
                <a:schemeClr val="dk2"/>
              </a:buClr>
              <a:buSzPts val="1800"/>
              <a:buChar char="○"/>
            </a:pPr>
            <a:r>
              <a:rPr lang="fr" sz="1800"/>
              <a:t>In focus we saw stark peaks, while out of focus smoothed out the histogram</a:t>
            </a:r>
            <a:endParaRPr sz="1800"/>
          </a:p>
          <a:p>
            <a:pPr indent="-342900" lvl="1" marL="914400" rtl="0" algn="l">
              <a:lnSpc>
                <a:spcPct val="100000"/>
              </a:lnSpc>
              <a:spcBef>
                <a:spcPts val="0"/>
              </a:spcBef>
              <a:spcAft>
                <a:spcPts val="0"/>
              </a:spcAft>
              <a:buClr>
                <a:schemeClr val="dk1"/>
              </a:buClr>
              <a:buSzPts val="1800"/>
              <a:buChar char="○"/>
            </a:pPr>
            <a:r>
              <a:rPr lang="fr" sz="1800"/>
              <a:t>We also saw an increase in saturation - counterintuitive because less lens area should give us less light. </a:t>
            </a:r>
            <a:endParaRPr sz="1800"/>
          </a:p>
          <a:p>
            <a:pPr indent="-342900" lvl="1" marL="914400" rtl="0" algn="l">
              <a:lnSpc>
                <a:spcPct val="100000"/>
              </a:lnSpc>
              <a:spcBef>
                <a:spcPts val="0"/>
              </a:spcBef>
              <a:spcAft>
                <a:spcPts val="0"/>
              </a:spcAft>
              <a:buClr>
                <a:schemeClr val="dk1"/>
              </a:buClr>
              <a:buSzPts val="1800"/>
              <a:buChar char="○"/>
            </a:pPr>
            <a:r>
              <a:rPr lang="fr" sz="1800"/>
              <a:t>Once fully closed, it was dark (obviously) </a:t>
            </a:r>
            <a:endParaRPr sz="1800"/>
          </a:p>
        </p:txBody>
      </p:sp>
      <p:pic>
        <p:nvPicPr>
          <p:cNvPr id="105" name="Google Shape;105;p19" title="Screenshot from 2026-09-24 18-34-53.png"/>
          <p:cNvPicPr preferRelativeResize="0"/>
          <p:nvPr/>
        </p:nvPicPr>
        <p:blipFill rotWithShape="1">
          <a:blip r:embed="rId3">
            <a:alphaModFix/>
          </a:blip>
          <a:srcRect b="34709" l="0" r="0" t="0"/>
          <a:stretch/>
        </p:blipFill>
        <p:spPr>
          <a:xfrm>
            <a:off x="105450" y="3274025"/>
            <a:ext cx="3160199" cy="1689625"/>
          </a:xfrm>
          <a:prstGeom prst="rect">
            <a:avLst/>
          </a:prstGeom>
          <a:noFill/>
          <a:ln>
            <a:noFill/>
          </a:ln>
        </p:spPr>
      </p:pic>
      <p:pic>
        <p:nvPicPr>
          <p:cNvPr id="106" name="Google Shape;106;p19" title="Screenshot from 2026-09-24 18-38-55.png"/>
          <p:cNvPicPr preferRelativeResize="0"/>
          <p:nvPr/>
        </p:nvPicPr>
        <p:blipFill rotWithShape="1">
          <a:blip r:embed="rId4">
            <a:alphaModFix/>
          </a:blip>
          <a:srcRect b="34709" l="0" r="0" t="0"/>
          <a:stretch/>
        </p:blipFill>
        <p:spPr>
          <a:xfrm>
            <a:off x="4015225" y="3274025"/>
            <a:ext cx="3160207" cy="1689625"/>
          </a:xfrm>
          <a:prstGeom prst="rect">
            <a:avLst/>
          </a:prstGeom>
          <a:noFill/>
          <a:ln>
            <a:noFill/>
          </a:ln>
        </p:spPr>
      </p:pic>
      <p:sp>
        <p:nvSpPr>
          <p:cNvPr id="107" name="Google Shape;107;p19"/>
          <p:cNvSpPr txBox="1"/>
          <p:nvPr/>
        </p:nvSpPr>
        <p:spPr>
          <a:xfrm>
            <a:off x="7359450" y="3452475"/>
            <a:ext cx="1968600" cy="1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200">
                <a:solidFill>
                  <a:schemeClr val="dk2"/>
                </a:solidFill>
              </a:rPr>
              <a:t>(data from first week) </a:t>
            </a:r>
            <a:endParaRPr sz="1200">
              <a:solidFill>
                <a:schemeClr val="dk2"/>
              </a:solidFill>
            </a:endParaRPr>
          </a:p>
          <a:p>
            <a:pPr indent="0" lvl="0" marL="0" rtl="0" algn="l">
              <a:lnSpc>
                <a:spcPct val="115000"/>
              </a:lnSpc>
              <a:spcBef>
                <a:spcPts val="0"/>
              </a:spcBef>
              <a:spcAft>
                <a:spcPts val="0"/>
              </a:spcAft>
              <a:buNone/>
            </a:pPr>
            <a:r>
              <a:rPr lang="fr" sz="1200">
                <a:solidFill>
                  <a:schemeClr val="dk2"/>
                </a:solidFill>
              </a:rPr>
              <a:t>F/1.4: mean 221</a:t>
            </a:r>
            <a:endParaRPr sz="1200">
              <a:solidFill>
                <a:schemeClr val="dk2"/>
              </a:solidFill>
            </a:endParaRPr>
          </a:p>
          <a:p>
            <a:pPr indent="0" lvl="0" marL="0" rtl="0" algn="l">
              <a:lnSpc>
                <a:spcPct val="115000"/>
              </a:lnSpc>
              <a:spcBef>
                <a:spcPts val="0"/>
              </a:spcBef>
              <a:spcAft>
                <a:spcPts val="0"/>
              </a:spcAft>
              <a:buNone/>
            </a:pPr>
            <a:r>
              <a:rPr lang="fr" sz="1200">
                <a:solidFill>
                  <a:schemeClr val="dk2"/>
                </a:solidFill>
              </a:rPr>
              <a:t>STD: 24.4</a:t>
            </a:r>
            <a:endParaRPr sz="1200">
              <a:solidFill>
                <a:schemeClr val="dk2"/>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2"/>
              </a:solidFill>
            </a:endParaRPr>
          </a:p>
          <a:p>
            <a:pPr indent="0" lvl="0" marL="0" rtl="0" algn="l">
              <a:lnSpc>
                <a:spcPct val="115000"/>
              </a:lnSpc>
              <a:spcBef>
                <a:spcPts val="0"/>
              </a:spcBef>
              <a:spcAft>
                <a:spcPts val="0"/>
              </a:spcAft>
              <a:buNone/>
            </a:pPr>
            <a:r>
              <a:rPr lang="fr" sz="1200">
                <a:solidFill>
                  <a:schemeClr val="dk2"/>
                </a:solidFill>
              </a:rPr>
              <a:t>F/C:   mean 54.5 </a:t>
            </a:r>
            <a:endParaRPr sz="1200">
              <a:solidFill>
                <a:schemeClr val="dk2"/>
              </a:solidFill>
            </a:endParaRPr>
          </a:p>
          <a:p>
            <a:pPr indent="0" lvl="0" marL="0" rtl="0" algn="l">
              <a:lnSpc>
                <a:spcPct val="115000"/>
              </a:lnSpc>
              <a:spcBef>
                <a:spcPts val="0"/>
              </a:spcBef>
              <a:spcAft>
                <a:spcPts val="0"/>
              </a:spcAft>
              <a:buClr>
                <a:schemeClr val="dk1"/>
              </a:buClr>
              <a:buSzPts val="1100"/>
              <a:buFont typeface="Arial"/>
              <a:buNone/>
            </a:pPr>
            <a:r>
              <a:rPr lang="fr" sz="1200">
                <a:solidFill>
                  <a:schemeClr val="dk2"/>
                </a:solidFill>
              </a:rPr>
              <a:t>STD: 8.1</a:t>
            </a:r>
            <a:endParaRPr sz="1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8" name="Google Shape;108;p19"/>
          <p:cNvSpPr txBox="1"/>
          <p:nvPr/>
        </p:nvSpPr>
        <p:spPr>
          <a:xfrm>
            <a:off x="2944625" y="3783775"/>
            <a:ext cx="13368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300">
                <a:solidFill>
                  <a:schemeClr val="accent1"/>
                </a:solidFill>
              </a:rPr>
              <a:t>Lowering </a:t>
            </a:r>
            <a:endParaRPr sz="1300">
              <a:solidFill>
                <a:schemeClr val="accent1"/>
              </a:solidFill>
            </a:endParaRPr>
          </a:p>
          <a:p>
            <a:pPr indent="0" lvl="0" marL="0" rtl="0" algn="ctr">
              <a:spcBef>
                <a:spcPts val="0"/>
              </a:spcBef>
              <a:spcAft>
                <a:spcPts val="0"/>
              </a:spcAft>
              <a:buNone/>
            </a:pPr>
            <a:r>
              <a:rPr lang="fr" sz="1300">
                <a:solidFill>
                  <a:schemeClr val="accent1"/>
                </a:solidFill>
              </a:rPr>
              <a:t>Aperture</a:t>
            </a:r>
            <a:r>
              <a:rPr lang="fr" sz="1300">
                <a:solidFill>
                  <a:schemeClr val="accent1"/>
                </a:solidFill>
              </a:rPr>
              <a:t> </a:t>
            </a:r>
            <a:endParaRPr sz="1300">
              <a:solidFill>
                <a:schemeClr val="accent1"/>
              </a:solidFill>
            </a:endParaRPr>
          </a:p>
          <a:p>
            <a:pPr indent="0" lvl="0" marL="0" rtl="0" algn="ctr">
              <a:spcBef>
                <a:spcPts val="0"/>
              </a:spcBef>
              <a:spcAft>
                <a:spcPts val="0"/>
              </a:spcAft>
              <a:buNone/>
            </a:pPr>
            <a:r>
              <a:rPr lang="fr" sz="1300">
                <a:solidFill>
                  <a:schemeClr val="accent1"/>
                </a:solidFill>
              </a:rPr>
              <a:t>—&gt;</a:t>
            </a:r>
            <a:endParaRPr sz="13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5442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4.2.4: Read Noise</a:t>
            </a:r>
            <a:endParaRPr/>
          </a:p>
        </p:txBody>
      </p:sp>
      <p:sp>
        <p:nvSpPr>
          <p:cNvPr id="114" name="Google Shape;114;p20"/>
          <p:cNvSpPr txBox="1"/>
          <p:nvPr>
            <p:ph idx="1" type="body"/>
          </p:nvPr>
        </p:nvSpPr>
        <p:spPr>
          <a:xfrm>
            <a:off x="311700" y="1152475"/>
            <a:ext cx="54420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fr"/>
              <a:t>We started with a water bottle, for a non-uniform object, but it became a problem with how reflective it was, our histogram was changing too </a:t>
            </a:r>
            <a:r>
              <a:rPr lang="fr"/>
              <a:t>much</a:t>
            </a:r>
            <a:r>
              <a:rPr lang="fr"/>
              <a:t>. Anyone moving in the room changed the reflection!</a:t>
            </a:r>
            <a:endParaRPr/>
          </a:p>
          <a:p>
            <a:pPr indent="-342900" lvl="0" marL="457200" rtl="0" algn="l">
              <a:spcBef>
                <a:spcPts val="0"/>
              </a:spcBef>
              <a:spcAft>
                <a:spcPts val="0"/>
              </a:spcAft>
              <a:buSzPts val="1800"/>
              <a:buChar char="●"/>
            </a:pPr>
            <a:r>
              <a:rPr lang="fr"/>
              <a:t>Switched</a:t>
            </a:r>
            <a:r>
              <a:rPr lang="fr"/>
              <a:t> to a stable, less reflective </a:t>
            </a:r>
            <a:r>
              <a:rPr lang="fr"/>
              <a:t>object for more consistent captures. </a:t>
            </a:r>
            <a:endParaRPr/>
          </a:p>
          <a:p>
            <a:pPr indent="-342900" lvl="0" marL="457200" rtl="0" algn="l">
              <a:spcBef>
                <a:spcPts val="0"/>
              </a:spcBef>
              <a:spcAft>
                <a:spcPts val="0"/>
              </a:spcAft>
              <a:buSzPts val="1800"/>
              <a:buChar char="●"/>
            </a:pPr>
            <a:r>
              <a:rPr lang="fr"/>
              <a:t>We also blurred the camera so we got closer to a gradient</a:t>
            </a:r>
            <a:endParaRPr/>
          </a:p>
          <a:p>
            <a:pPr indent="-342900" lvl="0" marL="457200" rtl="0" algn="l">
              <a:spcBef>
                <a:spcPts val="0"/>
              </a:spcBef>
              <a:spcAft>
                <a:spcPts val="0"/>
              </a:spcAft>
              <a:buSzPts val="1800"/>
              <a:buChar char="●"/>
            </a:pPr>
            <a:r>
              <a:rPr lang="fr"/>
              <a:t>We then were able to take light and dark captures to use in the following coding sections</a:t>
            </a:r>
            <a:endParaRPr/>
          </a:p>
        </p:txBody>
      </p:sp>
      <p:pic>
        <p:nvPicPr>
          <p:cNvPr id="115" name="Google Shape;115;p20" title="bottle_failure(sat).png"/>
          <p:cNvPicPr preferRelativeResize="0"/>
          <p:nvPr/>
        </p:nvPicPr>
        <p:blipFill>
          <a:blip r:embed="rId3">
            <a:alphaModFix/>
          </a:blip>
          <a:stretch>
            <a:fillRect/>
          </a:stretch>
        </p:blipFill>
        <p:spPr>
          <a:xfrm>
            <a:off x="6245075" y="89289"/>
            <a:ext cx="2647074" cy="2167611"/>
          </a:xfrm>
          <a:prstGeom prst="rect">
            <a:avLst/>
          </a:prstGeom>
          <a:noFill/>
          <a:ln>
            <a:noFill/>
          </a:ln>
        </p:spPr>
      </p:pic>
      <p:pic>
        <p:nvPicPr>
          <p:cNvPr id="116" name="Google Shape;116;p20" title="light_frame_spl.png"/>
          <p:cNvPicPr preferRelativeResize="0"/>
          <p:nvPr/>
        </p:nvPicPr>
        <p:blipFill>
          <a:blip r:embed="rId4">
            <a:alphaModFix/>
          </a:blip>
          <a:stretch>
            <a:fillRect/>
          </a:stretch>
        </p:blipFill>
        <p:spPr>
          <a:xfrm>
            <a:off x="6191888" y="2653955"/>
            <a:ext cx="2647074" cy="2167600"/>
          </a:xfrm>
          <a:prstGeom prst="rect">
            <a:avLst/>
          </a:prstGeom>
          <a:noFill/>
          <a:ln>
            <a:noFill/>
          </a:ln>
        </p:spPr>
      </p:pic>
      <p:sp>
        <p:nvSpPr>
          <p:cNvPr id="117" name="Google Shape;117;p20"/>
          <p:cNvSpPr txBox="1"/>
          <p:nvPr/>
        </p:nvSpPr>
        <p:spPr>
          <a:xfrm>
            <a:off x="6635250" y="2217750"/>
            <a:ext cx="2256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100">
                <a:solidFill>
                  <a:schemeClr val="accent5"/>
                </a:solidFill>
              </a:rPr>
              <a:t>Reflective object (not </a:t>
            </a:r>
            <a:r>
              <a:rPr lang="fr" sz="1100">
                <a:solidFill>
                  <a:schemeClr val="accent5"/>
                </a:solidFill>
              </a:rPr>
              <a:t>blurred)</a:t>
            </a:r>
            <a:endParaRPr sz="1100">
              <a:solidFill>
                <a:schemeClr val="accent5"/>
              </a:solidFill>
            </a:endParaRPr>
          </a:p>
        </p:txBody>
      </p:sp>
      <p:sp>
        <p:nvSpPr>
          <p:cNvPr id="118" name="Google Shape;118;p20"/>
          <p:cNvSpPr txBox="1"/>
          <p:nvPr/>
        </p:nvSpPr>
        <p:spPr>
          <a:xfrm>
            <a:off x="6191900" y="4784875"/>
            <a:ext cx="2753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100">
                <a:solidFill>
                  <a:schemeClr val="accent5"/>
                </a:solidFill>
              </a:rPr>
              <a:t>Improved non-reflective object (blurred) </a:t>
            </a:r>
            <a:endParaRPr sz="1100">
              <a:solidFill>
                <a:schemeClr val="accent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5442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4.2.4: Read Noise</a:t>
            </a:r>
            <a:endParaRPr/>
          </a:p>
        </p:txBody>
      </p:sp>
      <p:sp>
        <p:nvSpPr>
          <p:cNvPr id="124" name="Google Shape;124;p21"/>
          <p:cNvSpPr txBox="1"/>
          <p:nvPr>
            <p:ph idx="1" type="body"/>
          </p:nvPr>
        </p:nvSpPr>
        <p:spPr>
          <a:xfrm>
            <a:off x="311700" y="1017725"/>
            <a:ext cx="5442000" cy="82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fr"/>
              <a:t>1,000 random samples</a:t>
            </a:r>
            <a:r>
              <a:rPr lang="fr"/>
              <a:t> from 360,960 pixels.</a:t>
            </a:r>
            <a:br>
              <a:rPr lang="fr"/>
            </a:br>
            <a:r>
              <a:rPr lang="fr"/>
              <a:t>In-house </a:t>
            </a:r>
            <a:r>
              <a:rPr b="1" lang="fr"/>
              <a:t>least-squares</a:t>
            </a:r>
            <a:r>
              <a:rPr lang="fr"/>
              <a:t> method</a:t>
            </a:r>
            <a:endParaRPr/>
          </a:p>
        </p:txBody>
      </p:sp>
      <p:pic>
        <p:nvPicPr>
          <p:cNvPr id="125" name="Google Shape;125;p21"/>
          <p:cNvPicPr preferRelativeResize="0"/>
          <p:nvPr/>
        </p:nvPicPr>
        <p:blipFill>
          <a:blip r:embed="rId3">
            <a:alphaModFix/>
          </a:blip>
          <a:stretch>
            <a:fillRect/>
          </a:stretch>
        </p:blipFill>
        <p:spPr>
          <a:xfrm>
            <a:off x="799320" y="1978968"/>
            <a:ext cx="7545369" cy="2838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4.2.4: Read Noise</a:t>
            </a:r>
            <a:endParaRPr/>
          </a:p>
        </p:txBody>
      </p:sp>
      <p:sp>
        <p:nvSpPr>
          <p:cNvPr id="131" name="Google Shape;131;p22"/>
          <p:cNvSpPr txBox="1"/>
          <p:nvPr>
            <p:ph idx="1" type="body"/>
          </p:nvPr>
        </p:nvSpPr>
        <p:spPr>
          <a:xfrm>
            <a:off x="311700" y="1017725"/>
            <a:ext cx="5035200" cy="15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Questions/Concerns:</a:t>
            </a:r>
            <a:endParaRPr/>
          </a:p>
          <a:p>
            <a:pPr indent="-342900" lvl="0" marL="457200" rtl="0" algn="l">
              <a:spcBef>
                <a:spcPts val="0"/>
              </a:spcBef>
              <a:spcAft>
                <a:spcPts val="0"/>
              </a:spcAft>
              <a:buSzPts val="1800"/>
              <a:buChar char="●"/>
            </a:pPr>
            <a:r>
              <a:rPr lang="fr"/>
              <a:t>Axis </a:t>
            </a:r>
            <a:r>
              <a:rPr b="1" lang="fr"/>
              <a:t>powers? </a:t>
            </a:r>
            <a:r>
              <a:rPr lang="fr"/>
              <a:t>Which value on which axis?</a:t>
            </a:r>
            <a:endParaRPr/>
          </a:p>
          <a:p>
            <a:pPr indent="-317500" lvl="1" marL="914400" rtl="0" algn="l">
              <a:spcBef>
                <a:spcPts val="0"/>
              </a:spcBef>
              <a:spcAft>
                <a:spcPts val="0"/>
              </a:spcAft>
              <a:buSzPts val="1400"/>
              <a:buChar char="○"/>
            </a:pPr>
            <a:r>
              <a:rPr lang="fr"/>
              <a:t>Tried to take reference on lecture </a:t>
            </a:r>
            <a:r>
              <a:rPr b="1" lang="fr"/>
              <a:t>slides</a:t>
            </a:r>
            <a:r>
              <a:rPr lang="fr"/>
              <a:t>:</a:t>
            </a:r>
            <a:br>
              <a:rPr lang="fr"/>
            </a:br>
            <a:r>
              <a:rPr lang="fr"/>
              <a:t>Gain is </a:t>
            </a:r>
            <a:r>
              <a:rPr b="1" lang="fr"/>
              <a:t>reciprocal </a:t>
            </a:r>
            <a:r>
              <a:rPr lang="fr"/>
              <a:t>of slope, units </a:t>
            </a:r>
            <a:r>
              <a:rPr b="1" lang="fr"/>
              <a:t>e</a:t>
            </a:r>
            <a:r>
              <a:rPr b="1" baseline="30000" lang="fr"/>
              <a:t>-</a:t>
            </a:r>
            <a:r>
              <a:rPr b="1" lang="fr"/>
              <a:t>/ADU</a:t>
            </a:r>
            <a:br>
              <a:rPr lang="fr"/>
            </a:br>
            <a:r>
              <a:rPr lang="fr"/>
              <a:t>(</a:t>
            </a:r>
            <a:r>
              <a:rPr b="1" lang="fr"/>
              <a:t>Logarithmic </a:t>
            </a:r>
            <a:r>
              <a:rPr lang="fr"/>
              <a:t>axes?)</a:t>
            </a:r>
            <a:endParaRPr/>
          </a:p>
        </p:txBody>
      </p:sp>
      <p:pic>
        <p:nvPicPr>
          <p:cNvPr id="132" name="Google Shape;132;p22"/>
          <p:cNvPicPr preferRelativeResize="0"/>
          <p:nvPr/>
        </p:nvPicPr>
        <p:blipFill>
          <a:blip r:embed="rId3">
            <a:alphaModFix/>
          </a:blip>
          <a:stretch>
            <a:fillRect/>
          </a:stretch>
        </p:blipFill>
        <p:spPr>
          <a:xfrm>
            <a:off x="5483400" y="161827"/>
            <a:ext cx="3273376" cy="2469298"/>
          </a:xfrm>
          <a:prstGeom prst="rect">
            <a:avLst/>
          </a:prstGeom>
          <a:noFill/>
          <a:ln cap="flat" cmpd="sng" w="9525">
            <a:solidFill>
              <a:schemeClr val="dk2"/>
            </a:solidFill>
            <a:prstDash val="solid"/>
            <a:round/>
            <a:headEnd len="sm" w="sm" type="none"/>
            <a:tailEnd len="sm" w="sm" type="none"/>
          </a:ln>
        </p:spPr>
      </p:pic>
      <p:pic>
        <p:nvPicPr>
          <p:cNvPr id="133" name="Google Shape;133;p22"/>
          <p:cNvPicPr preferRelativeResize="0"/>
          <p:nvPr/>
        </p:nvPicPr>
        <p:blipFill>
          <a:blip r:embed="rId4">
            <a:alphaModFix/>
          </a:blip>
          <a:stretch>
            <a:fillRect/>
          </a:stretch>
        </p:blipFill>
        <p:spPr>
          <a:xfrm>
            <a:off x="831689" y="2571750"/>
            <a:ext cx="3899485" cy="2571751"/>
          </a:xfrm>
          <a:prstGeom prst="rect">
            <a:avLst/>
          </a:prstGeom>
          <a:noFill/>
          <a:ln cap="flat" cmpd="sng" w="9525">
            <a:solidFill>
              <a:schemeClr val="dk2"/>
            </a:solidFill>
            <a:prstDash val="solid"/>
            <a:round/>
            <a:headEnd len="sm" w="sm" type="none"/>
            <a:tailEnd len="sm" w="sm" type="none"/>
          </a:ln>
        </p:spPr>
      </p:pic>
      <p:pic>
        <p:nvPicPr>
          <p:cNvPr id="134" name="Google Shape;134;p22"/>
          <p:cNvPicPr preferRelativeResize="0"/>
          <p:nvPr/>
        </p:nvPicPr>
        <p:blipFill>
          <a:blip r:embed="rId5">
            <a:alphaModFix/>
          </a:blip>
          <a:stretch>
            <a:fillRect/>
          </a:stretch>
        </p:blipFill>
        <p:spPr>
          <a:xfrm>
            <a:off x="5483400" y="2631125"/>
            <a:ext cx="3273375" cy="23505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5442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4.2.4: Read Noise</a:t>
            </a:r>
            <a:endParaRPr/>
          </a:p>
        </p:txBody>
      </p:sp>
      <p:sp>
        <p:nvSpPr>
          <p:cNvPr id="140" name="Google Shape;140;p23"/>
          <p:cNvSpPr txBox="1"/>
          <p:nvPr/>
        </p:nvSpPr>
        <p:spPr>
          <a:xfrm>
            <a:off x="311700" y="1594100"/>
            <a:ext cx="3730500" cy="2699400"/>
          </a:xfrm>
          <a:prstGeom prst="rect">
            <a:avLst/>
          </a:prstGeom>
          <a:solidFill>
            <a:srgbClr val="F1C23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chemeClr val="dk2"/>
                </a:solidFill>
              </a:rPr>
              <a:t>Piazza post response!</a:t>
            </a:r>
            <a:r>
              <a:rPr lang="fr" sz="1800">
                <a:solidFill>
                  <a:schemeClr val="dk2"/>
                </a:solidFill>
              </a:rPr>
              <a:t> (28/09/2026)</a:t>
            </a:r>
            <a:endParaRPr sz="1800">
              <a:solidFill>
                <a:schemeClr val="dk2"/>
              </a:solidFill>
            </a:endParaRPr>
          </a:p>
          <a:p>
            <a:pPr indent="0" lvl="0" marL="0" rtl="0" algn="l">
              <a:spcBef>
                <a:spcPts val="0"/>
              </a:spcBef>
              <a:spcAft>
                <a:spcPts val="0"/>
              </a:spcAft>
              <a:buNone/>
            </a:pPr>
            <a:r>
              <a:rPr lang="fr" sz="1800">
                <a:solidFill>
                  <a:schemeClr val="dk2"/>
                </a:solidFill>
              </a:rPr>
              <a:t>Plot σ</a:t>
            </a:r>
            <a:r>
              <a:rPr baseline="30000" lang="fr" sz="1800">
                <a:solidFill>
                  <a:schemeClr val="dk2"/>
                </a:solidFill>
              </a:rPr>
              <a:t>2</a:t>
            </a:r>
            <a:r>
              <a:rPr lang="fr" sz="1800">
                <a:solidFill>
                  <a:schemeClr val="dk2"/>
                </a:solidFill>
              </a:rPr>
              <a:t> against μ, no changes in power.</a:t>
            </a:r>
            <a:endParaRPr sz="1800">
              <a:solidFill>
                <a:schemeClr val="dk2"/>
              </a:solidFill>
            </a:endParaRPr>
          </a:p>
          <a:p>
            <a:pPr indent="0" lvl="0" marL="0" rtl="0" algn="l">
              <a:spcBef>
                <a:spcPts val="0"/>
              </a:spcBef>
              <a:spcAft>
                <a:spcPts val="0"/>
              </a:spcAft>
              <a:buNone/>
            </a:pPr>
            <a:r>
              <a:rPr lang="fr" sz="1800">
                <a:solidFill>
                  <a:schemeClr val="dk2"/>
                </a:solidFill>
              </a:rPr>
              <a:t>→ </a:t>
            </a:r>
            <a:r>
              <a:rPr b="1" lang="fr" sz="1800">
                <a:solidFill>
                  <a:schemeClr val="dk2"/>
                </a:solidFill>
              </a:rPr>
              <a:t>Top plot </a:t>
            </a:r>
            <a:r>
              <a:rPr lang="fr" sz="1800">
                <a:solidFill>
                  <a:schemeClr val="dk2"/>
                </a:solidFill>
              </a:rPr>
              <a:t>was the correct one!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fr" sz="1800">
                <a:solidFill>
                  <a:schemeClr val="dk2"/>
                </a:solidFill>
              </a:rPr>
              <a:t>Gain:</a:t>
            </a:r>
            <a:r>
              <a:rPr lang="fr" sz="1800">
                <a:solidFill>
                  <a:schemeClr val="dk2"/>
                </a:solidFill>
              </a:rPr>
              <a:t> 98.6 e</a:t>
            </a:r>
            <a:r>
              <a:rPr baseline="30000" lang="fr" sz="1800">
                <a:solidFill>
                  <a:schemeClr val="dk2"/>
                </a:solidFill>
              </a:rPr>
              <a:t>-</a:t>
            </a:r>
            <a:r>
              <a:rPr lang="fr" sz="1800">
                <a:solidFill>
                  <a:schemeClr val="dk2"/>
                </a:solidFill>
              </a:rPr>
              <a:t>/ADU</a:t>
            </a:r>
            <a:endParaRPr sz="1800">
              <a:solidFill>
                <a:schemeClr val="dk2"/>
              </a:solidFill>
            </a:endParaRPr>
          </a:p>
          <a:p>
            <a:pPr indent="-342900" lvl="0" marL="457200" rtl="0" algn="l">
              <a:spcBef>
                <a:spcPts val="0"/>
              </a:spcBef>
              <a:spcAft>
                <a:spcPts val="0"/>
              </a:spcAft>
              <a:buClr>
                <a:schemeClr val="dk2"/>
              </a:buClr>
              <a:buSzPts val="1800"/>
              <a:buChar char="-"/>
            </a:pPr>
            <a:r>
              <a:rPr b="1" lang="fr" sz="1800">
                <a:solidFill>
                  <a:schemeClr val="dk2"/>
                </a:solidFill>
              </a:rPr>
              <a:t>Read Noise: </a:t>
            </a:r>
            <a:r>
              <a:rPr lang="fr" sz="1800">
                <a:solidFill>
                  <a:schemeClr val="dk2"/>
                </a:solidFill>
              </a:rPr>
              <a:t>0.881 ADU </a:t>
            </a:r>
            <a:br>
              <a:rPr lang="fr" sz="1800">
                <a:solidFill>
                  <a:schemeClr val="dk2"/>
                </a:solidFill>
              </a:rPr>
            </a:br>
            <a:r>
              <a:rPr lang="fr" sz="1800">
                <a:solidFill>
                  <a:schemeClr val="dk2"/>
                </a:solidFill>
              </a:rPr>
              <a:t>                      </a:t>
            </a:r>
            <a:r>
              <a:rPr lang="fr" sz="1800">
                <a:solidFill>
                  <a:schemeClr val="dk2"/>
                </a:solidFill>
              </a:rPr>
              <a:t>(86</a:t>
            </a:r>
            <a:r>
              <a:rPr lang="fr" sz="1800">
                <a:solidFill>
                  <a:schemeClr val="dk2"/>
                </a:solidFill>
              </a:rPr>
              <a:t>.8 e</a:t>
            </a:r>
            <a:r>
              <a:rPr baseline="30000" lang="fr" sz="1800">
                <a:solidFill>
                  <a:schemeClr val="dk2"/>
                </a:solidFill>
              </a:rPr>
              <a:t>-</a:t>
            </a:r>
            <a:r>
              <a:rPr lang="fr"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fr" sz="1800">
                <a:solidFill>
                  <a:schemeClr val="dk2"/>
                </a:solidFill>
              </a:rPr>
              <a:t>Thank you Bruno!</a:t>
            </a:r>
            <a:endParaRPr sz="1800">
              <a:solidFill>
                <a:schemeClr val="dk2"/>
              </a:solidFill>
            </a:endParaRPr>
          </a:p>
        </p:txBody>
      </p:sp>
      <p:pic>
        <p:nvPicPr>
          <p:cNvPr id="141" name="Google Shape;141;p23"/>
          <p:cNvPicPr preferRelativeResize="0"/>
          <p:nvPr/>
        </p:nvPicPr>
        <p:blipFill>
          <a:blip r:embed="rId3">
            <a:alphaModFix/>
          </a:blip>
          <a:stretch>
            <a:fillRect/>
          </a:stretch>
        </p:blipFill>
        <p:spPr>
          <a:xfrm>
            <a:off x="4283000" y="1334175"/>
            <a:ext cx="4646150" cy="3504875"/>
          </a:xfrm>
          <a:prstGeom prst="rect">
            <a:avLst/>
          </a:prstGeom>
          <a:noFill/>
          <a:ln cap="flat" cmpd="sng" w="9525">
            <a:solidFill>
              <a:schemeClr val="dk2"/>
            </a:solidFill>
            <a:prstDash val="solid"/>
            <a:round/>
            <a:headEnd len="sm" w="sm" type="none"/>
            <a:tailEnd len="sm" w="sm" type="none"/>
          </a:ln>
        </p:spPr>
      </p:pic>
      <p:sp>
        <p:nvSpPr>
          <p:cNvPr id="142" name="Google Shape;142;p23"/>
          <p:cNvSpPr txBox="1"/>
          <p:nvPr/>
        </p:nvSpPr>
        <p:spPr>
          <a:xfrm>
            <a:off x="4545075" y="600425"/>
            <a:ext cx="4122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fr">
                <a:solidFill>
                  <a:schemeClr val="dk2"/>
                </a:solidFill>
              </a:rPr>
              <a:t>In hindsight, dimensional analysis would have been a good way to find out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The +</a:t>
            </a:r>
            <a:endParaRPr/>
          </a:p>
        </p:txBody>
      </p:sp>
      <p:sp>
        <p:nvSpPr>
          <p:cNvPr id="148" name="Google Shape;14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The second week, we knew what to do hence:</a:t>
            </a:r>
            <a:endParaRPr/>
          </a:p>
          <a:p>
            <a:pPr indent="-323850" lvl="1" marL="914400" rtl="0" algn="l">
              <a:spcBef>
                <a:spcPts val="0"/>
              </a:spcBef>
              <a:spcAft>
                <a:spcPts val="0"/>
              </a:spcAft>
              <a:buSzPts val="1500"/>
              <a:buChar char="○"/>
            </a:pPr>
            <a:r>
              <a:rPr lang="fr" sz="1500"/>
              <a:t>Smoother Workflow</a:t>
            </a:r>
            <a:endParaRPr sz="1500"/>
          </a:p>
          <a:p>
            <a:pPr indent="-317500" lvl="2" marL="1371600" rtl="0" algn="l">
              <a:spcBef>
                <a:spcPts val="0"/>
              </a:spcBef>
              <a:spcAft>
                <a:spcPts val="0"/>
              </a:spcAft>
              <a:buSzPts val="1400"/>
              <a:buChar char="■"/>
            </a:pPr>
            <a:r>
              <a:rPr lang="fr"/>
              <a:t>We were more efficient and productive</a:t>
            </a:r>
            <a:endParaRPr/>
          </a:p>
          <a:p>
            <a:pPr indent="-317500" lvl="2" marL="1371600" rtl="0" algn="l">
              <a:spcBef>
                <a:spcPts val="0"/>
              </a:spcBef>
              <a:spcAft>
                <a:spcPts val="0"/>
              </a:spcAft>
              <a:buSzPts val="1400"/>
              <a:buChar char="■"/>
            </a:pPr>
            <a:r>
              <a:rPr lang="fr"/>
              <a:t>We obtained better results</a:t>
            </a:r>
            <a:endParaRPr/>
          </a:p>
          <a:p>
            <a:pPr indent="-323850" lvl="1" marL="914400" rtl="0" algn="l">
              <a:spcBef>
                <a:spcPts val="0"/>
              </a:spcBef>
              <a:spcAft>
                <a:spcPts val="0"/>
              </a:spcAft>
              <a:buSzPts val="1500"/>
              <a:buChar char="○"/>
            </a:pPr>
            <a:r>
              <a:rPr lang="fr" sz="1500"/>
              <a:t>Better teamwork</a:t>
            </a:r>
            <a:endParaRPr sz="1500"/>
          </a:p>
          <a:p>
            <a:pPr indent="-317500" lvl="2" marL="1371600" rtl="0" algn="l">
              <a:spcBef>
                <a:spcPts val="0"/>
              </a:spcBef>
              <a:spcAft>
                <a:spcPts val="0"/>
              </a:spcAft>
              <a:buSzPts val="1400"/>
              <a:buChar char="■"/>
            </a:pPr>
            <a:r>
              <a:rPr lang="fr"/>
              <a:t>We understood each other’s strength better</a:t>
            </a:r>
            <a:endParaRPr/>
          </a:p>
          <a:p>
            <a:pPr indent="-323850" lvl="1" marL="914400" rtl="0" algn="l">
              <a:spcBef>
                <a:spcPts val="0"/>
              </a:spcBef>
              <a:spcAft>
                <a:spcPts val="0"/>
              </a:spcAft>
              <a:buSzPts val="1500"/>
              <a:buChar char="○"/>
            </a:pPr>
            <a:r>
              <a:rPr lang="fr" sz="1500"/>
              <a:t>Result </a:t>
            </a:r>
            <a:r>
              <a:rPr lang="fr" sz="1500"/>
              <a:t>matches</a:t>
            </a:r>
            <a:r>
              <a:rPr lang="fr" sz="1500"/>
              <a:t> Theory</a:t>
            </a:r>
            <a:endParaRPr sz="1500"/>
          </a:p>
          <a:p>
            <a:pPr indent="-317500" lvl="2" marL="1371600" rtl="0" algn="l">
              <a:spcBef>
                <a:spcPts val="0"/>
              </a:spcBef>
              <a:spcAft>
                <a:spcPts val="0"/>
              </a:spcAft>
              <a:buSzPts val="1400"/>
              <a:buChar char="■"/>
            </a:pPr>
            <a:r>
              <a:rPr lang="fr"/>
              <a:t>Small data set approached a Poisson distribution as expected</a:t>
            </a:r>
            <a:endParaRPr/>
          </a:p>
          <a:p>
            <a:pPr indent="-317500" lvl="2" marL="1371600" rtl="0" algn="l">
              <a:spcBef>
                <a:spcPts val="0"/>
              </a:spcBef>
              <a:spcAft>
                <a:spcPts val="0"/>
              </a:spcAft>
              <a:buSzPts val="1400"/>
              <a:buChar char="■"/>
            </a:pPr>
            <a:r>
              <a:rPr lang="fr"/>
              <a:t>Large data set approached a Normal distribution as expected</a:t>
            </a:r>
            <a:endParaRPr/>
          </a:p>
          <a:p>
            <a:pPr indent="-323850" lvl="1" marL="914400" rtl="0" algn="l">
              <a:spcBef>
                <a:spcPts val="0"/>
              </a:spcBef>
              <a:spcAft>
                <a:spcPts val="0"/>
              </a:spcAft>
              <a:buSzPts val="1500"/>
              <a:buChar char="○"/>
            </a:pPr>
            <a:r>
              <a:rPr lang="fr" sz="1500"/>
              <a:t>We were more confident about our results</a:t>
            </a:r>
            <a:endParaRPr/>
          </a:p>
          <a:p>
            <a:pPr indent="-342900" lvl="0" marL="457200" rtl="0" algn="l">
              <a:spcBef>
                <a:spcPts val="0"/>
              </a:spcBef>
              <a:spcAft>
                <a:spcPts val="0"/>
              </a:spcAft>
              <a:buSzPts val="1800"/>
              <a:buChar char="●"/>
            </a:pPr>
            <a:r>
              <a:rPr lang="fr"/>
              <a:t>We set up a GitHub repo (thank you Group 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The -</a:t>
            </a:r>
            <a:endParaRPr/>
          </a:p>
        </p:txBody>
      </p:sp>
      <p:sp>
        <p:nvSpPr>
          <p:cNvPr id="154" name="Google Shape;15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First time with the camera resulted in inconclusive results (due to it not being able to be focused) </a:t>
            </a:r>
            <a:endParaRPr/>
          </a:p>
          <a:p>
            <a:pPr indent="-342900" lvl="0" marL="457200" rtl="0" algn="l">
              <a:spcBef>
                <a:spcPts val="0"/>
              </a:spcBef>
              <a:spcAft>
                <a:spcPts val="0"/>
              </a:spcAft>
              <a:buSzPts val="1800"/>
              <a:buChar char="●"/>
            </a:pPr>
            <a:r>
              <a:rPr lang="fr"/>
              <a:t>We did not take any pictures from the 1st hour - quickly went back to what we did in the 2nd hour to take screenshots</a:t>
            </a:r>
            <a:endParaRPr/>
          </a:p>
          <a:p>
            <a:pPr indent="-317500" lvl="1" marL="914400" rtl="0" algn="l">
              <a:spcBef>
                <a:spcPts val="0"/>
              </a:spcBef>
              <a:spcAft>
                <a:spcPts val="0"/>
              </a:spcAft>
              <a:buSzPts val="1400"/>
              <a:buChar char="○"/>
            </a:pPr>
            <a:r>
              <a:rPr lang="fr"/>
              <a:t>Both caused lots of wasted time, but was made up in our efficiency in the second hour </a:t>
            </a:r>
            <a:endParaRPr/>
          </a:p>
          <a:p>
            <a:pPr indent="-342900" lvl="0" marL="457200" rtl="0" algn="l">
              <a:spcBef>
                <a:spcPts val="0"/>
              </a:spcBef>
              <a:spcAft>
                <a:spcPts val="0"/>
              </a:spcAft>
              <a:buSzPts val="1800"/>
              <a:buChar char="●"/>
            </a:pPr>
            <a:r>
              <a:rPr lang="fr"/>
              <a:t>At first we couldn’t figure out the capturing process</a:t>
            </a:r>
            <a:endParaRPr/>
          </a:p>
          <a:p>
            <a:pPr indent="-342900" lvl="0" marL="457200" rtl="0" algn="l">
              <a:spcBef>
                <a:spcPts val="0"/>
              </a:spcBef>
              <a:spcAft>
                <a:spcPts val="0"/>
              </a:spcAft>
              <a:buSzPts val="1800"/>
              <a:buChar char="●"/>
            </a:pPr>
            <a:r>
              <a:rPr lang="fr"/>
              <a:t>Choosing a good object for the camera was a challenge, originally using one with lots of reflections was a mistake. </a:t>
            </a:r>
            <a:endParaRPr/>
          </a:p>
          <a:p>
            <a:pPr indent="-342900" lvl="0" marL="457200" rtl="0" algn="l">
              <a:spcBef>
                <a:spcPts val="0"/>
              </a:spcBef>
              <a:spcAft>
                <a:spcPts val="0"/>
              </a:spcAft>
              <a:buSzPts val="1800"/>
              <a:buChar char="●"/>
            </a:pPr>
            <a:r>
              <a:rPr lang="fr"/>
              <a:t>Linux terminal was hard to get used to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Further Investigations (4.2.5) Measuring Dark Current</a:t>
            </a:r>
            <a:endParaRPr/>
          </a:p>
        </p:txBody>
      </p:sp>
      <p:sp>
        <p:nvSpPr>
          <p:cNvPr id="160" name="Google Shape;160;p26"/>
          <p:cNvSpPr txBox="1"/>
          <p:nvPr>
            <p:ph idx="1" type="body"/>
          </p:nvPr>
        </p:nvSpPr>
        <p:spPr>
          <a:xfrm>
            <a:off x="494580" y="1017726"/>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400"/>
              <a:t>The slope of the best-fit line will output ADU/(seconds*pixels). To convert it to electrons per second per pixel we have to use the formula:</a:t>
            </a:r>
            <a:endParaRPr sz="1400"/>
          </a:p>
          <a:p>
            <a:pPr indent="0" lvl="0" marL="0" rtl="0" algn="l">
              <a:spcBef>
                <a:spcPts val="1200"/>
              </a:spcBef>
              <a:spcAft>
                <a:spcPts val="0"/>
              </a:spcAft>
              <a:buNone/>
            </a:pPr>
            <a:r>
              <a:rPr lang="fr" sz="1400"/>
              <a:t>D(electrons per pixel per second)=D(ADU)*CF*(electrons per ADU)</a:t>
            </a:r>
            <a:endParaRPr sz="1400"/>
          </a:p>
          <a:p>
            <a:pPr indent="0" lvl="0" marL="0" rtl="0" algn="l">
              <a:spcBef>
                <a:spcPts val="1200"/>
              </a:spcBef>
              <a:spcAft>
                <a:spcPts val="0"/>
              </a:spcAft>
              <a:buNone/>
            </a:pPr>
            <a:r>
              <a:rPr lang="fr" sz="1400"/>
              <a:t>where CF is the gain we measured at 4.2.4 which we will use to convert dark current into electrons per second per pixel.</a:t>
            </a:r>
            <a:endParaRPr sz="1400"/>
          </a:p>
          <a:p>
            <a:pPr indent="0" lvl="0" marL="0" rtl="0" algn="l">
              <a:spcBef>
                <a:spcPts val="1200"/>
              </a:spcBef>
              <a:spcAft>
                <a:spcPts val="1200"/>
              </a:spcAft>
              <a:buNone/>
            </a:pPr>
            <a:r>
              <a:rPr lang="fr" sz="1400"/>
              <a:t>Normally there is a linear relation between electrons = dark current rate * time. But as exposure time increases and image comes closer to saturation each pixel’s potential well gets piled up with electrons. Also gets limited by ADU’s max values which is 2^n -1, 255 (for our camera), therefore reported value of pixels mean plateaus which leaves the linear regime. Due to these upper bounds for ADU we will be setting the exposure time in milliseconds and up to 30ms max to keep electrons = dark current rate * time linear.</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What do we have to say </a:t>
            </a:r>
            <a:r>
              <a:rPr lang="fr"/>
              <a:t>for</a:t>
            </a:r>
            <a:r>
              <a:rPr lang="fr"/>
              <a:t> other groups?</a:t>
            </a:r>
            <a:endParaRPr/>
          </a:p>
        </p:txBody>
      </p:sp>
      <p:sp>
        <p:nvSpPr>
          <p:cNvPr id="166" name="Google Shape;16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If in doubt: Turn off and on</a:t>
            </a:r>
            <a:endParaRPr/>
          </a:p>
          <a:p>
            <a:pPr indent="-317500" lvl="1" marL="914400" rtl="0" algn="l">
              <a:spcBef>
                <a:spcPts val="0"/>
              </a:spcBef>
              <a:spcAft>
                <a:spcPts val="0"/>
              </a:spcAft>
              <a:buSzPts val="1400"/>
              <a:buChar char="○"/>
            </a:pPr>
            <a:r>
              <a:rPr lang="fr"/>
              <a:t>If in more doubt, ask a TA/CI/T not A</a:t>
            </a:r>
            <a:endParaRPr/>
          </a:p>
          <a:p>
            <a:pPr indent="-342900" lvl="0" marL="457200" rtl="0" algn="l">
              <a:spcBef>
                <a:spcPts val="0"/>
              </a:spcBef>
              <a:spcAft>
                <a:spcPts val="0"/>
              </a:spcAft>
              <a:buSzPts val="1800"/>
              <a:buChar char="●"/>
            </a:pPr>
            <a:r>
              <a:rPr lang="fr"/>
              <a:t>Take lots of pictures and notes</a:t>
            </a:r>
            <a:endParaRPr/>
          </a:p>
          <a:p>
            <a:pPr indent="-342900" lvl="0" marL="457200" rtl="0" algn="l">
              <a:spcBef>
                <a:spcPts val="0"/>
              </a:spcBef>
              <a:spcAft>
                <a:spcPts val="0"/>
              </a:spcAft>
              <a:buSzPts val="1800"/>
              <a:buChar char="●"/>
            </a:pPr>
            <a:r>
              <a:rPr lang="fr"/>
              <a:t>Make a GitHub repo! It’s a learning curve but very worth it.</a:t>
            </a:r>
            <a:endParaRPr/>
          </a:p>
          <a:p>
            <a:pPr indent="-342900" lvl="0" marL="457200" rtl="0" algn="l">
              <a:spcBef>
                <a:spcPts val="0"/>
              </a:spcBef>
              <a:spcAft>
                <a:spcPts val="0"/>
              </a:spcAft>
              <a:buSzPts val="1800"/>
              <a:buChar char="●"/>
            </a:pPr>
            <a:r>
              <a:rPr lang="fr"/>
              <a:t>Take more frames than you think you need. More data makes the distributions much cleaner, especially for checking Poisson against Normal.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sz="3500"/>
              <a:t>QUESTIONS / COMMENTS </a:t>
            </a:r>
            <a:r>
              <a:rPr lang="fr" sz="3500"/>
              <a:t>‽</a:t>
            </a:r>
            <a:endParaRPr sz="3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